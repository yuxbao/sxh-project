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200400" cy="6858000"/>
          </a:xfrm>
          <a:prstGeom prst="rect">
            <a:avLst/>
          </a:prstGeom>
          <a:solidFill>
            <a:srgbClr val="E3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04672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>
                <a:solidFill>
                  <a:srgbClr val="14375D"/>
                </a:solidFill>
                <a:latin typeface="PingFang SC"/>
              </a:rPr>
              <a:t>整合AI搜索和AI助手能力的私有化知识社区系统研发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D7D31"/>
                </a:solidFill>
                <a:latin typeface="PingFang SC"/>
              </a:rPr>
              <a:t>毕业论文（设计）中期检查汇报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9718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82828"/>
                </a:solidFill>
                <a:latin typeface="PingFang SC"/>
              </a:rPr>
              <a:t>专业：计算机科学与技术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82828"/>
                </a:solidFill>
                <a:latin typeface="PingFang SC"/>
              </a:rPr>
              <a:t>汇报人：鲍宇翔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82828"/>
                </a:solidFill>
                <a:latin typeface="PingFang SC"/>
              </a:rPr>
              <a:t>指导教师：朱频频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82828"/>
                </a:solidFill>
                <a:latin typeface="PingFang SC"/>
              </a:rPr>
              <a:t>时间：2026年4月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63040"/>
            <a:ext cx="2011680" cy="347472"/>
          </a:xfrm>
          <a:prstGeom prst="roundRect">
            <a:avLst/>
          </a:prstGeom>
          <a:solidFill>
            <a:srgbClr val="FCECDF"/>
          </a:solidFill>
          <a:ln>
            <a:solidFill>
              <a:srgbClr val="FCE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AI 搜索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2121408"/>
            <a:ext cx="2011680" cy="347472"/>
          </a:xfrm>
          <a:prstGeom prst="roundRect">
            <a:avLst/>
          </a:prstGeom>
          <a:solidFill>
            <a:srgbClr val="E8F4EC"/>
          </a:solidFill>
          <a:ln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AI 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779776"/>
            <a:ext cx="2011680" cy="347472"/>
          </a:xfrm>
          <a:prstGeom prst="roundRect">
            <a:avLst/>
          </a:prstGeom>
          <a:solidFill>
            <a:srgbClr val="E3EFFA"/>
          </a:solidFill>
          <a:ln>
            <a:solidFill>
              <a:srgbClr val="E3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知识库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3438144"/>
            <a:ext cx="2011680" cy="347472"/>
          </a:xfrm>
          <a:prstGeom prst="roundRect">
            <a:avLst/>
          </a:prstGeom>
          <a:solidFill>
            <a:srgbClr val="FCECDF"/>
          </a:solidFill>
          <a:ln>
            <a:solidFill>
              <a:srgbClr val="FCE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私有化部署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754880"/>
            <a:ext cx="2194560" cy="10972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>
                <a:solidFill>
                  <a:srgbClr val="14375D"/>
                </a:solidFill>
                <a:latin typeface="PingFang SC"/>
              </a:rPr>
              <a:t>5分钟汇报
围绕“已完成工作、阶段成果、后续计划”展开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毕业论文（设计）中期检查汇报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1. 课题背景与研究目标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基于当前项目实现与中期报告内容整理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566160" cy="4206240"/>
          </a:xfrm>
          <a:prstGeom prst="round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7276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课题背景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246120" cy="3639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社区文章、知识文件和用户问答内容分散，传统关键词检索难以满足语义级查询需求。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单纯做聊天页面无法体现社区已有内容价值，需要将“内容沉淀、检索召回、答案引用”打通。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在私有化场景下，还必须兼顾权限隔离、可维护部署和真实业务可用性。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566160" cy="4206240"/>
          </a:xfrm>
          <a:prstGeom prst="roundRect">
            <a:avLst/>
          </a:prstGeom>
          <a:solidFill>
            <a:srgbClr val="E8F4EC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7276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研究目标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46120" cy="3639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构建整合 AI 搜索与 AI 助手能力的私有化知识社区系统。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实现社区文章自动同步进入知识库，形成可被搜索、可被引用、可被推荐的知识语料。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完成知识库管理、语义检索、智能问答、权限控制等核心功能闭环。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63040"/>
            <a:ext cx="3291840" cy="4206240"/>
          </a:xfrm>
          <a:prstGeom prst="roundRect">
            <a:avLst/>
          </a:prstGeom>
          <a:solidFill>
            <a:srgbClr val="FCECD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预期效果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920240"/>
            <a:ext cx="2971800" cy="3639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用户在社区场景内即可完成检索、提问和延伸阅读。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回答内容能够带出处来源，提升可追溯性与可信度。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系统具备论文实验、功能演示与后续迭代的基础。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2. 系统方案与技术路线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围绕“社区内容接入 -&gt; 知识处理 -&gt; 检索问答 -&gt; 前端展示”构建闭环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828800" cy="914400"/>
          </a:xfrm>
          <a:prstGeom prst="round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社区前端</a:t>
            </a:r>
          </a:p>
          <a:p>
            <a:pPr algn="ctr"/>
            <a:r>
              <a:rPr sz="1050">
                <a:solidFill>
                  <a:srgbClr val="5D6878"/>
                </a:solidFill>
                <a:latin typeface="PingFang SC"/>
              </a:rPr>
              <a:t>文章浏览 / 搜索入口 / 智能助手页面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08760"/>
            <a:ext cx="1920240" cy="914400"/>
          </a:xfrm>
          <a:prstGeom prst="roundRect">
            <a:avLst/>
          </a:prstGeom>
          <a:solidFill>
            <a:srgbClr val="E8F4EC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集成接口层</a:t>
            </a:r>
          </a:p>
          <a:p>
            <a:pPr algn="ctr"/>
            <a:r>
              <a:rPr sz="1050">
                <a:solidFill>
                  <a:srgbClr val="5D6878"/>
                </a:solidFill>
                <a:latin typeface="PingFang SC"/>
              </a:rPr>
              <a:t>SSO 登录桥接 / 文章同步接口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508760"/>
            <a:ext cx="1920240" cy="914400"/>
          </a:xfrm>
          <a:prstGeom prst="roundRect">
            <a:avLst/>
          </a:prstGeom>
          <a:solidFill>
            <a:srgbClr val="FCECD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知识处理层</a:t>
            </a:r>
          </a:p>
          <a:p>
            <a:pPr algn="ctr"/>
            <a:r>
              <a:rPr sz="1050">
                <a:solidFill>
                  <a:srgbClr val="5D6878"/>
                </a:solidFill>
                <a:latin typeface="PingFang SC"/>
              </a:rPr>
              <a:t>解析分块 / 向量化 / 元数据管理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508760"/>
            <a:ext cx="1828800" cy="914400"/>
          </a:xfrm>
          <a:prstGeom prst="round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检索生成层</a:t>
            </a:r>
          </a:p>
          <a:p>
            <a:pPr algn="ctr"/>
            <a:r>
              <a:rPr sz="1050">
                <a:solidFill>
                  <a:srgbClr val="5D6878"/>
                </a:solidFill>
                <a:latin typeface="PingFang SC"/>
              </a:rPr>
              <a:t>混合检索 / RAG 问答 / 相关文章推荐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508760"/>
            <a:ext cx="2011680" cy="914400"/>
          </a:xfrm>
          <a:prstGeom prst="roundRect">
            <a:avLst/>
          </a:prstGeom>
          <a:solidFill>
            <a:srgbClr val="E8F4EC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27432" bIns="27432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结果展示层</a:t>
            </a:r>
          </a:p>
          <a:p>
            <a:pPr algn="ctr"/>
            <a:r>
              <a:rPr sz="1050">
                <a:solidFill>
                  <a:srgbClr val="5D6878"/>
                </a:solidFill>
                <a:latin typeface="PingFang SC"/>
              </a:rPr>
              <a:t>答案引用 / 来源跳转 / 权限控制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1965960"/>
            <a:ext cx="274320" cy="0"/>
          </a:xfrm>
          <a:prstGeom prst="line">
            <a:avLst/>
          </a:prstGeom>
          <a:ln w="19050">
            <a:solidFill>
              <a:srgbClr val="1C5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1965960"/>
            <a:ext cx="320040" cy="0"/>
          </a:xfrm>
          <a:prstGeom prst="line">
            <a:avLst/>
          </a:prstGeom>
          <a:ln w="19050">
            <a:solidFill>
              <a:srgbClr val="1C5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965960"/>
            <a:ext cx="320040" cy="0"/>
          </a:xfrm>
          <a:prstGeom prst="line">
            <a:avLst/>
          </a:prstGeom>
          <a:ln w="19050">
            <a:solidFill>
              <a:srgbClr val="1C5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1965960"/>
            <a:ext cx="274320" cy="0"/>
          </a:xfrm>
          <a:prstGeom prst="line">
            <a:avLst/>
          </a:prstGeom>
          <a:ln w="19050">
            <a:solidFill>
              <a:srgbClr val="1C5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2834640"/>
            <a:ext cx="10972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08960"/>
            <a:ext cx="1371600" cy="347472"/>
          </a:xfrm>
          <a:prstGeom prst="roundRect">
            <a:avLst/>
          </a:prstGeom>
          <a:solidFill>
            <a:srgbClr val="E3EFFA"/>
          </a:solidFill>
          <a:ln>
            <a:solidFill>
              <a:srgbClr val="E3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后端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272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Spring Boot 3 + Spring Security + WebSocket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47872"/>
            <a:ext cx="1371600" cy="347472"/>
          </a:xfrm>
          <a:prstGeom prst="roundRect">
            <a:avLst/>
          </a:prstGeom>
          <a:solidFill>
            <a:srgbClr val="E8F4EC"/>
          </a:solidFill>
          <a:ln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前端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5661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Vue 3 + TypeScript + Vite + Pinia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86783"/>
            <a:ext cx="1371600" cy="347472"/>
          </a:xfrm>
          <a:prstGeom prst="roundRect">
            <a:avLst/>
          </a:prstGeom>
          <a:solidFill>
            <a:srgbClr val="E3EFFA"/>
          </a:solidFill>
          <a:ln>
            <a:solidFill>
              <a:srgbClr val="E3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存储与中间件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005071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MySQL + Redis + Kafka + MinIO + Elasticsearch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25696"/>
            <a:ext cx="1371600" cy="347472"/>
          </a:xfrm>
          <a:prstGeom prst="roundRect">
            <a:avLst/>
          </a:prstGeom>
          <a:solidFill>
            <a:srgbClr val="E8F4EC"/>
          </a:solidFill>
          <a:ln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AI 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443983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DeepSeek 大模型 + Embedding + RAG 检索增强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864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75D"/>
                </a:solidFill>
                <a:latin typeface="PingFang SC"/>
              </a:rPr>
              <a:t>当前项目代码已体现出文章同步、混合搜索、聊天问答、权限过滤和桥接登录等关键实现。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3. 当前已完成的主要工作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中期阶段已经完成从方案设计到可演示系统闭环的关键工作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系统整合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3200400" cy="3913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完成本地与调试环境搭建，梳理前后端工程结构与运行方式。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打通社区主系统与智能模块用户体系，支持桥接登录与自动补齐扩展数据。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统一聊天入口、返回社区按钮与品牌展示，增强一体化体验。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知识库与检索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20"/>
            <a:ext cx="3200400" cy="3913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完成社区文章新增、修改、删除等场景的知识库同步方案与代码接入。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实现语料解析、向量化、Elasticsearch 检索和文章来源回显。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整理知识库文件展示、预览、下载、删除和权限控制逻辑。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75D"/>
                </a:solidFill>
                <a:latin typeface="PingFang SC"/>
              </a:rPr>
              <a:t>联调与优化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20"/>
            <a:ext cx="3200400" cy="3913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修复中文输入误发送、消息顺序偶发错乱、推荐标题显示异常等问题。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补齐历史 PDF / DOCX 元数据，修正知识库列表与对象存储不一致问题。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82828"/>
                </a:solidFill>
                <a:latin typeface="PingFang SC"/>
              </a:rPr>
              <a:t>• 补充多主题文章与封面资源，提升检索、推荐与演示效果。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4. 阶段成果与演示页面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当前系统已经形成可汇报、可演示的核心流程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965960" cy="347472"/>
          </a:xfrm>
          <a:prstGeom prst="roundRect">
            <a:avLst/>
          </a:prstGeom>
          <a:solidFill>
            <a:srgbClr val="FCECDF"/>
          </a:solidFill>
          <a:ln>
            <a:solidFill>
              <a:srgbClr val="FCE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已形成的核心闭环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840480" cy="3108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82828"/>
                </a:solidFill>
                <a:latin typeface="PingFang SC"/>
              </a:rPr>
              <a:t>• 社区用户统一登录后，可直接进入智能助手场景，无需重复注册。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82828"/>
                </a:solidFill>
                <a:latin typeface="PingFang SC"/>
              </a:rPr>
              <a:t>• 社区文章可自动同步到知识库，成为搜索、问答和推荐的基础语料。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82828"/>
                </a:solidFill>
                <a:latin typeface="PingFang SC"/>
              </a:rPr>
              <a:t>• 智能问答返回结果可带文章来源与跳转链接，增强答案可信度。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82828"/>
                </a:solidFill>
                <a:latin typeface="PingFang SC"/>
              </a:rPr>
              <a:t>• 知识库页面已支持文件管理与权限区分，具备基本可用性。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00200"/>
            <a:ext cx="21031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7488" y="1709928"/>
            <a:ext cx="1883664" cy="1700784"/>
          </a:xfrm>
          <a:prstGeom prst="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5669280" y="1856232"/>
            <a:ext cx="640080" cy="502920"/>
          </a:xfrm>
          <a:prstGeom prst="hexagon">
            <a:avLst/>
          </a:prstGeom>
          <a:solidFill>
            <a:srgbClr val="1C5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2423160"/>
            <a:ext cx="1773936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占位图 1</a:t>
            </a:r>
          </a:p>
          <a:p>
            <a:pPr algn="ctr"/>
            <a:r>
              <a:rPr sz="1100">
                <a:solidFill>
                  <a:srgbClr val="5D6878"/>
                </a:solidFill>
                <a:latin typeface="PingFang SC"/>
              </a:rPr>
              <a:t>社区首页 / 智能助手入口截图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600200"/>
            <a:ext cx="21031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9208" y="1709928"/>
            <a:ext cx="1883664" cy="1700784"/>
          </a:xfrm>
          <a:prstGeom prst="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8001000" y="1856232"/>
            <a:ext cx="640080" cy="502920"/>
          </a:xfrm>
          <a:prstGeom prst="hexagon">
            <a:avLst/>
          </a:prstGeom>
          <a:solidFill>
            <a:srgbClr val="1C5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2423160"/>
            <a:ext cx="1773936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占位图 2</a:t>
            </a:r>
          </a:p>
          <a:p>
            <a:pPr algn="ctr"/>
            <a:r>
              <a:rPr sz="1100">
                <a:solidFill>
                  <a:srgbClr val="5D6878"/>
                </a:solidFill>
                <a:latin typeface="PingFang SC"/>
              </a:rPr>
              <a:t>知识库管理页截图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600200"/>
            <a:ext cx="19202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10928" y="1709928"/>
            <a:ext cx="1700784" cy="1700784"/>
          </a:xfrm>
          <a:prstGeom prst="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10241280" y="1856232"/>
            <a:ext cx="640080" cy="502920"/>
          </a:xfrm>
          <a:prstGeom prst="hexagon">
            <a:avLst/>
          </a:prstGeom>
          <a:solidFill>
            <a:srgbClr val="1C5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2423160"/>
            <a:ext cx="1591056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占位图 3</a:t>
            </a:r>
          </a:p>
          <a:p>
            <a:pPr algn="ctr"/>
            <a:r>
              <a:rPr sz="1100">
                <a:solidFill>
                  <a:srgbClr val="5D6878"/>
                </a:solidFill>
                <a:latin typeface="PingFang SC"/>
              </a:rPr>
              <a:t>搜索或问答结果截图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886200"/>
            <a:ext cx="6583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4160520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4375D"/>
                </a:solidFill>
                <a:latin typeface="PingFang SC"/>
              </a:rPr>
              <a:t>用户进入系统 -&gt; 文章/文件进入知识库 -&gt; 语义检索召回 -&gt; 大模型生成答案 -&gt; 返回来源与推荐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44068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D6878"/>
                </a:solidFill>
                <a:latin typeface="PingFang SC"/>
              </a:rPr>
              <a:t>正式汇报时可将占位图替换为系统关键页面截图。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5. 目前存在的问题及解决思路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中期阶段重点是把“能跑通”进一步推进到“更稳定、更完整”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89888"/>
            <a:ext cx="1874519" cy="347472"/>
          </a:xfrm>
          <a:prstGeom prst="roundRect">
            <a:avLst/>
          </a:prstGeom>
          <a:solidFill>
            <a:srgbClr val="E3EFFA"/>
          </a:solidFill>
          <a:ln>
            <a:solidFill>
              <a:srgbClr val="E3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主要问题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264" y="1389888"/>
            <a:ext cx="2011680" cy="347472"/>
          </a:xfrm>
          <a:prstGeom prst="roundRect">
            <a:avLst/>
          </a:prstGeom>
          <a:solidFill>
            <a:srgbClr val="E8F4EC"/>
          </a:solidFill>
          <a:ln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" rIns="36576" tIns="36576" bIns="36576" wrap="square"/>
          <a:lstStyle/>
          <a:p>
            <a:pPr algn="ctr"/>
            <a:r>
              <a:rPr sz="1300" b="1">
                <a:solidFill>
                  <a:srgbClr val="14375D"/>
                </a:solidFill>
                <a:latin typeface="PingFang SC"/>
              </a:rPr>
              <a:t>对应解决办法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783080"/>
            <a:ext cx="6035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83664"/>
            <a:ext cx="4023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配置管理、运行环境和部署方式还不够统一。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83664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继续统一配置项、补充启动脚本和部署说明，减少环境差异带来的联调问题。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2651760"/>
            <a:ext cx="6035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52344"/>
            <a:ext cx="4023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历史 PDF、DOCX 文件存在元数据不完整或跨库不一致。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752344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逐步补齐历史数据，并核对数据库、对象存储与页面展示的一致性。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0" y="3520439"/>
            <a:ext cx="6035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3"/>
            <a:ext cx="4023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聊天功能在异常网络、长对话和历史恢复场景下仍需测试。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621023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补充稳定性测试和异常场景验证，继续优化交互细节与消息恢复能力。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89120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0" y="4389120"/>
            <a:ext cx="6035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89704"/>
            <a:ext cx="4023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论文写作所需的实验结果、截图和结构化材料仍不充分。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489704"/>
            <a:ext cx="5577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PingFang SC"/>
              </a:rPr>
              <a:t>在完善系统的同时同步沉淀测试样例、结果分析和章节素材。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PingFang SC"/>
              </a:rPr>
              <a:t>毕业论文（设计）中期检查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4375D"/>
                </a:solidFill>
                <a:latin typeface="PingFang SC"/>
              </a:rPr>
              <a:t>6. 下一步计划与时间安排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D6878"/>
                </a:solidFill>
                <a:latin typeface="PingFang SC"/>
              </a:rPr>
              <a:t>围绕系统完善、测试整理和论文写作三条主线继续推进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C9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D6878"/>
                </a:solidFill>
                <a:latin typeface="PingFang SC"/>
              </a:rPr>
              <a:t>中期检查汇报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1051560" cy="658368"/>
          </a:xfrm>
          <a:prstGeom prst="ellipse">
            <a:avLst/>
          </a:prstGeom>
          <a:solidFill>
            <a:srgbClr val="1C5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</a:rPr>
              <a:t>4月中旬前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563624"/>
            <a:ext cx="8961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709928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继续完善社区、知识库、搜索和智能助手闭环，完成中期检查材料整理。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1051560" cy="65836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</a:rPr>
              <a:t>4月下旬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798064"/>
            <a:ext cx="8961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944368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补充不同文件类型、文章分类、权限场景下的测试样例与演示截图。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1051560" cy="658368"/>
          </a:xfrm>
          <a:prstGeom prst="ellipse">
            <a:avLst/>
          </a:prstGeom>
          <a:solidFill>
            <a:srgbClr val="1C5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</a:rPr>
              <a:t>5月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032504"/>
            <a:ext cx="8961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178808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PingFang SC"/>
              </a:rPr>
              <a:t>集中推进论文撰写、修改和定稿，并根据指导意见调整系统细节。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440680"/>
            <a:ext cx="10424160" cy="658368"/>
          </a:xfrm>
          <a:prstGeom prst="roundRect">
            <a:avLst/>
          </a:prstGeom>
          <a:solidFill>
            <a:srgbClr val="E3EFFA"/>
          </a:solidFill>
          <a:ln>
            <a:solidFill>
              <a:srgbClr val="C9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18288" bIns="18288" wrap="square"/>
          <a:lstStyle/>
          <a:p>
            <a:pPr algn="ctr"/>
            <a:r>
              <a:rPr sz="1500" b="1">
                <a:solidFill>
                  <a:srgbClr val="14375D"/>
                </a:solidFill>
                <a:latin typeface="PingFang SC"/>
              </a:rPr>
              <a:t>总体上，课题已完成中前期关键功能落地，下一阶段将以稳定性、测试材料和论文成稿为重点。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2179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PingFang SC"/>
              </a:rPr>
              <a:t>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